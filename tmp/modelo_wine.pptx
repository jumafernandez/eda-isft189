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 para portada y agenda: 30 segundos. Presentar al equipo y el nombre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recorrido en pocos segundos; no hace falta leer cada punto.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1 minuto. Contar el problema en lenguaje simple antes de hablar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1 minuto y medio. Explicar qué es una fila del dataset con un ejemplo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1 minuto y medio. Si la ingesta es automática, mostrarla funcionando o contar cada cuánto corre.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1 minuto y medio. No leer la tabla: destacar la variable objetivo y las unidades que no son obvias.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2 minutos. Cada problema con su número; adelantar que la próxima diapositiva dice qué se hizo con cada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2 minutos. Justificar cada decisión: no alcanza con decir qué se hizo.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2 minutos. Cada gráfico se presenta con la conclusión primero y después el gráfico que la respalda.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1 minuto. Mostrar el repositorio real si ya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1 minuto. Cerrar con lo que sigue en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69000" y="-1143000"/>
            <a:ext cx="4572000" cy="4572000"/>
          </a:xfrm>
          <a:prstGeom prst="ellipse">
            <a:avLst/>
          </a:prstGeom>
          <a:solidFill>
            <a:srgbClr val="8A2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3000" y="2921000"/>
            <a:ext cx="2794000" cy="2794000"/>
          </a:xfrm>
          <a:prstGeom prst="ellipse">
            <a:avLst/>
          </a:prstGeom>
          <a:solidFill>
            <a:srgbClr val="6A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711200"/>
            <a:ext cx="5334000" cy="2286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9C9D3"/>
                </a:solidFill>
                <a:latin typeface="Lato"/>
              </a:rPr>
              <a:t>PRÁCTICA PROFESIONAL · ANÁLISIS Y EXPLORACIÓN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0400" y="1676400"/>
            <a:ext cx="711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803400"/>
            <a:ext cx="5588000" cy="762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ontserrat"/>
              </a:rPr>
              <a:t>Wine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2616200"/>
            <a:ext cx="5080000" cy="635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3DDE4"/>
                </a:solidFill>
                <a:latin typeface="Lato"/>
              </a:rPr>
              <a:t>¿Qué propiedades químicas hacen que un vino sea mejor evaluado?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3962400"/>
            <a:ext cx="5588000" cy="254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Lato"/>
              </a:rPr>
              <a:t>Segundo entregable: recopilación y preparación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4216400"/>
            <a:ext cx="5334000" cy="254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9C9D3"/>
                </a:solidFill>
                <a:latin typeface="Lato"/>
              </a:rPr>
              <a:t>Equipo: Estudiante_1, Estudiante_2 · 27/10/2026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82600"/>
            <a:ext cx="8128000" cy="508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B2B2B"/>
                </a:solidFill>
                <a:latin typeface="Montserrat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58800" y="1041400"/>
            <a:ext cx="558800" cy="381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1397000"/>
            <a:ext cx="635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B1E3A"/>
                </a:solidFill>
                <a:latin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" y="1397000"/>
            <a:ext cx="3429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A3A"/>
                </a:solidFill>
                <a:latin typeface="Lato"/>
              </a:rPr>
              <a:t>Objetivo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981200"/>
            <a:ext cx="635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B1E3A"/>
                </a:solidFill>
                <a:latin typeface="Montserra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1981200"/>
            <a:ext cx="3429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A3A"/>
                </a:solidFill>
                <a:latin typeface="Lato"/>
              </a:rPr>
              <a:t>Origen de los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565400"/>
            <a:ext cx="635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B1E3A"/>
                </a:solidFill>
                <a:latin typeface="Montserra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2565400"/>
            <a:ext cx="3429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A3A"/>
                </a:solidFill>
                <a:latin typeface="Lato"/>
              </a:rPr>
              <a:t>Forma de ingesta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3149600"/>
            <a:ext cx="635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B1E3A"/>
                </a:solidFill>
                <a:latin typeface="Montserrat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3149600"/>
            <a:ext cx="3429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A3A"/>
                </a:solidFill>
                <a:latin typeface="Lato"/>
              </a:rPr>
              <a:t>Diccionario de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733800"/>
            <a:ext cx="635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B1E3A"/>
                </a:solidFill>
                <a:latin typeface="Montserrat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600" y="3733800"/>
            <a:ext cx="3429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A3A"/>
                </a:solidFill>
                <a:latin typeface="Lato"/>
              </a:rPr>
              <a:t>Calidad de los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9000" y="1397000"/>
            <a:ext cx="635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B1E3A"/>
                </a:solidFill>
                <a:latin typeface="Montserrat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8600" y="1397000"/>
            <a:ext cx="3429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A3A"/>
                </a:solidFill>
                <a:latin typeface="Lato"/>
              </a:rPr>
              <a:t>Limpieza y transformación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9000" y="1981200"/>
            <a:ext cx="635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B1E3A"/>
                </a:solidFill>
                <a:latin typeface="Montserrat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8600" y="1981200"/>
            <a:ext cx="3429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A3A"/>
                </a:solidFill>
                <a:latin typeface="Lato"/>
              </a:rPr>
              <a:t>Hallazgos del análisis exploratorio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9000" y="2565400"/>
            <a:ext cx="635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B1E3A"/>
                </a:solidFill>
                <a:latin typeface="Montserrat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8600" y="2565400"/>
            <a:ext cx="3429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A3A"/>
                </a:solidFill>
                <a:latin typeface="Lato"/>
              </a:rPr>
              <a:t>Persistencia y versionado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9000" y="3149600"/>
            <a:ext cx="635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B1E3A"/>
                </a:solidFill>
                <a:latin typeface="Montserrat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8600" y="3149600"/>
            <a:ext cx="3429000" cy="406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3A3A"/>
                </a:solidFill>
                <a:latin typeface="Lato"/>
              </a:rPr>
              <a:t>Conclusiones y próximos pasos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51400"/>
            <a:ext cx="508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Wine Quality · Equipo: Estudiante_1, Estudiante_2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016000" cy="2794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1E3A"/>
                </a:solidFill>
                <a:latin typeface="Montserrat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8128000" cy="508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B2B2B"/>
                </a:solidFill>
                <a:latin typeface="Montserrat"/>
              </a:rPr>
              <a:t>Objetivo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800" y="1041400"/>
            <a:ext cx="558800" cy="381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51400"/>
            <a:ext cx="508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Wine Quality · Equipo: Estudiante_1, Estudiante_2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6800" y="4851400"/>
            <a:ext cx="127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01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44600"/>
            <a:ext cx="8128000" cy="660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B1E3A"/>
                </a:solidFill>
                <a:latin typeface="Montserrat"/>
              </a:rPr>
              <a:t>Predecir la calidad de un vino a partir de sus propiedades físico-químicas.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8800" y="2057400"/>
            <a:ext cx="2540000" cy="198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8800" y="2057400"/>
            <a:ext cx="2540000" cy="508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209800"/>
            <a:ext cx="2387600" cy="254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E3A"/>
                </a:solidFill>
                <a:latin typeface="Montserrat"/>
              </a:rPr>
              <a:t>PREGUNTA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14600"/>
            <a:ext cx="2387600" cy="14224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A3A"/>
                </a:solidFill>
                <a:latin typeface="Lato"/>
              </a:rPr>
              <a:t>¿Qué mediciones de laboratorio explican que un vino reciba mejor puntaje en la cata?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600" y="2057400"/>
            <a:ext cx="2540000" cy="198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6600" y="2057400"/>
            <a:ext cx="2540000" cy="508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2800" y="2209800"/>
            <a:ext cx="2387600" cy="254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E3A"/>
                </a:solidFill>
                <a:latin typeface="Montserrat"/>
              </a:rPr>
              <a:t>VARIABLE OBJETIVO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800" y="2514600"/>
            <a:ext cx="2387600" cy="14224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A3A"/>
                </a:solidFill>
                <a:latin typeface="Lato"/>
              </a:rPr>
              <a:t>quality: puntaje de 0 a 10 asignado por catadores expertos.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94400" y="2057400"/>
            <a:ext cx="2540000" cy="198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94400" y="2057400"/>
            <a:ext cx="2540000" cy="508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70600" y="2209800"/>
            <a:ext cx="2387600" cy="254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E3A"/>
                </a:solidFill>
                <a:latin typeface="Montserrat"/>
              </a:rPr>
              <a:t>PARA QUIÉN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0600" y="2514600"/>
            <a:ext cx="2387600" cy="14224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A3A"/>
                </a:solidFill>
                <a:latin typeface="Lato"/>
              </a:rPr>
              <a:t>Una bodega que quiere anticipar la calidad antes de la evaluación sensorial.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8800" y="4241800"/>
            <a:ext cx="8077200" cy="508000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B1E3A"/>
                </a:solidFill>
                <a:latin typeface="Lato"/>
              </a:rPr>
              <a:t>QUÉ MOSTRAR</a:t>
            </a:r>
            <a:r>
              <a:rPr sz="1050" b="0">
                <a:solidFill>
                  <a:srgbClr val="4A4A4A"/>
                </a:solidFill>
                <a:latin typeface="Lato"/>
              </a:rPr>
              <a:t>    En una oración, qué se quiere predecir o explicar, con qué datos y para quién sirve.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016000" cy="2794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1E3A"/>
                </a:solidFill>
                <a:latin typeface="Montserrat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8128000" cy="508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B2B2B"/>
                </a:solidFill>
                <a:latin typeface="Montserrat"/>
              </a:rPr>
              <a:t>Origen de los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800" y="1041400"/>
            <a:ext cx="558800" cy="381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51400"/>
            <a:ext cx="508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Wine Quality · Equipo: Estudiante_1, Estudiante_2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6800" y="4851400"/>
            <a:ext cx="127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02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4953000" cy="28448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just" marL="203200" indent="-1524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B1E3A"/>
              </a:buClr>
              <a:buFont typeface="Arial"/>
              <a:buChar char="•"/>
            </a:pPr>
            <a:r>
              <a:rPr sz="1250" b="1">
                <a:solidFill>
                  <a:srgbClr val="2B2B2B"/>
                </a:solidFill>
                <a:latin typeface="Lato"/>
              </a:rPr>
              <a:t>Fuente:</a:t>
            </a:r>
            <a:r>
              <a:rPr sz="1250" b="0">
                <a:solidFill>
                  <a:srgbClr val="3A3A3A"/>
                </a:solidFill>
                <a:latin typeface="Lato"/>
              </a:rPr>
              <a:t> UCI Machine Learning Repository, dataset Wine Quality (id 186).</a:t>
            </a:r>
          </a:p>
          <a:p>
            <a:pPr algn="just" marL="203200" indent="-1524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B1E3A"/>
              </a:buClr>
              <a:buFont typeface="Arial"/>
              <a:buChar char="•"/>
            </a:pPr>
            <a:r>
              <a:rPr sz="1250" b="1">
                <a:solidFill>
                  <a:srgbClr val="2B2B2B"/>
                </a:solidFill>
                <a:latin typeface="Lato"/>
              </a:rPr>
              <a:t>Autoría:</a:t>
            </a:r>
            <a:r>
              <a:rPr sz="1250" b="0">
                <a:solidFill>
                  <a:srgbClr val="3A3A3A"/>
                </a:solidFill>
                <a:latin typeface="Lato"/>
              </a:rPr>
              <a:t> Cortez et al. (2009), vinos verdes del norte de Portugal.</a:t>
            </a:r>
          </a:p>
          <a:p>
            <a:pPr algn="just" marL="203200" indent="-1524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B1E3A"/>
              </a:buClr>
              <a:buFont typeface="Arial"/>
              <a:buChar char="•"/>
            </a:pPr>
            <a:r>
              <a:rPr sz="1250" b="1">
                <a:solidFill>
                  <a:srgbClr val="2B2B2B"/>
                </a:solidFill>
                <a:latin typeface="Lato"/>
              </a:rPr>
              <a:t>Formato y licencia:</a:t>
            </a:r>
            <a:r>
              <a:rPr sz="1250" b="0">
                <a:solidFill>
                  <a:srgbClr val="3A3A3A"/>
                </a:solidFill>
                <a:latin typeface="Lato"/>
              </a:rPr>
              <a:t> tabla numérica (CSV), licencia CC BY 4.0.</a:t>
            </a:r>
          </a:p>
          <a:p>
            <a:pPr algn="just" marL="203200" indent="-1524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7B1E3A"/>
              </a:buClr>
              <a:buFont typeface="Arial"/>
              <a:buChar char="•"/>
            </a:pPr>
            <a:r>
              <a:rPr sz="1250" b="1">
                <a:solidFill>
                  <a:srgbClr val="2B2B2B"/>
                </a:solidFill>
                <a:latin typeface="Lato"/>
              </a:rPr>
              <a:t>Por qué este dataset:</a:t>
            </a:r>
            <a:r>
              <a:rPr sz="1250" b="0">
                <a:solidFill>
                  <a:srgbClr val="3A3A3A"/>
                </a:solidFill>
                <a:latin typeface="Lato"/>
              </a:rPr>
              <a:t> es público, está documentado y la variable objetivo ya está definida.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1200" y="1320800"/>
            <a:ext cx="2844800" cy="812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91200" y="1320800"/>
            <a:ext cx="50800" cy="8128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2800" y="1397000"/>
            <a:ext cx="1219200" cy="660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B1E3A"/>
                </a:solidFill>
                <a:latin typeface="Montserrat"/>
              </a:rPr>
              <a:t>6.497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1200" y="1397000"/>
            <a:ext cx="1549400" cy="660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3A3A"/>
                </a:solidFill>
                <a:latin typeface="Lato"/>
              </a:rPr>
              <a:t>vinos: cada fila es un vino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91200" y="2260600"/>
            <a:ext cx="2844800" cy="812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91200" y="2260600"/>
            <a:ext cx="50800" cy="8128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2800" y="2336800"/>
            <a:ext cx="1219200" cy="660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B1E3A"/>
                </a:solidFill>
                <a:latin typeface="Montserrat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1200" y="2336800"/>
            <a:ext cx="1549400" cy="660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3A3A"/>
                </a:solidFill>
                <a:latin typeface="Lato"/>
              </a:rPr>
              <a:t>variables: 11 químicas y la calidad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91200" y="3200400"/>
            <a:ext cx="2844800" cy="812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91200" y="3200400"/>
            <a:ext cx="50800" cy="8128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2800" y="3276600"/>
            <a:ext cx="1219200" cy="660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7B1E3A"/>
                </a:solidFill>
                <a:latin typeface="Montserra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1200" y="3276600"/>
            <a:ext cx="1549400" cy="660400"/>
          </a:xfrm>
          <a:prstGeom prst="rect">
            <a:avLst/>
          </a:prstGeom>
          <a:noFill/>
        </p:spPr>
        <p:txBody>
          <a:bodyPr wrap="square" anchor="ctr" lIns="101600" rIns="101600" tIns="63500" bIns="635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3A3A"/>
                </a:solidFill>
                <a:latin typeface="Lato"/>
              </a:rPr>
              <a:t>tipos de vino: tinto y blanco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8800" y="4241800"/>
            <a:ext cx="8077200" cy="508000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B1E3A"/>
                </a:solidFill>
                <a:latin typeface="Lato"/>
              </a:rPr>
              <a:t>QUÉ MOSTRAR</a:t>
            </a:r>
            <a:r>
              <a:rPr sz="1050" b="0">
                <a:solidFill>
                  <a:srgbClr val="4A4A4A"/>
                </a:solidFill>
                <a:latin typeface="Lato"/>
              </a:rPr>
              <a:t>    Fuente con cita o enlace, licencia, volumen, qué representa cada fila y por qué eligieron estos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016000" cy="2794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1E3A"/>
                </a:solidFill>
                <a:latin typeface="Montserra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8128000" cy="508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B2B2B"/>
                </a:solidFill>
                <a:latin typeface="Montserrat"/>
              </a:rPr>
              <a:t>Forma de ingesta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800" y="1041400"/>
            <a:ext cx="558800" cy="381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51400"/>
            <a:ext cx="508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Wine Quality · Equipo: Estudiante_1, Estudiante_2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6800" y="4851400"/>
            <a:ext cx="127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03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800" y="1295400"/>
            <a:ext cx="4648200" cy="2819400"/>
          </a:xfrm>
          <a:prstGeom prst="rect">
            <a:avLst/>
          </a:prstGeom>
          <a:solidFill>
            <a:srgbClr val="2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/>
            </a:r>
            <a:r>
              <a:rPr sz="1000" b="0">
                <a:solidFill>
                  <a:srgbClr val="C9A0AE"/>
                </a:solidFill>
                <a:latin typeface="Roboto Mono"/>
              </a:rPr>
              <a:t># instalar la librería del repositorio UCI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!pip install ucimlrepo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/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from ucimlrepo import fetch_ucirepo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/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wine = fetch_ucirepo(id=186)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df = wine.data.features.copy()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df["quality"] = wine.data.targets["quality"]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/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df.shape   </a:t>
            </a:r>
            <a:r>
              <a:rPr sz="1000" b="0">
                <a:solidFill>
                  <a:srgbClr val="C9A0AE"/>
                </a:solidFill>
                <a:latin typeface="Roboto Mono"/>
              </a:rPr>
              <a:t># (6497, 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84800" y="1270000"/>
            <a:ext cx="3302000" cy="28448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Método:</a:t>
            </a:r>
            <a:r>
              <a:rPr sz="1200" b="0">
                <a:solidFill>
                  <a:srgbClr val="3A3A3A"/>
                </a:solidFill>
                <a:latin typeface="Lato"/>
              </a:rPr>
              <a:t> librería ucimlrepo, que consulta el repositorio por API.</a:t>
            </a:r>
          </a:p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Reproducible:</a:t>
            </a:r>
            <a:r>
              <a:rPr sz="1200" b="0">
                <a:solidFill>
                  <a:srgbClr val="3A3A3A"/>
                </a:solidFill>
                <a:latin typeface="Lato"/>
              </a:rPr>
              <a:t> quien corra la notebook obtiene los mismos datos.</a:t>
            </a:r>
          </a:p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Frecuencia:</a:t>
            </a:r>
            <a:r>
              <a:rPr sz="1200" b="0">
                <a:solidFill>
                  <a:srgbClr val="3A3A3A"/>
                </a:solidFill>
                <a:latin typeface="Lato"/>
              </a:rPr>
              <a:t> una sola vez; el dataset es estático.</a:t>
            </a:r>
          </a:p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Alternativas:</a:t>
            </a:r>
            <a:r>
              <a:rPr sz="1200" b="0">
                <a:solidFill>
                  <a:srgbClr val="3A3A3A"/>
                </a:solidFill>
                <a:latin typeface="Lato"/>
              </a:rPr>
              <a:t> CSV, API propia, scraping o base de datos.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8800" y="4241800"/>
            <a:ext cx="8077200" cy="508000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B1E3A"/>
                </a:solidFill>
                <a:latin typeface="Lato"/>
              </a:rPr>
              <a:t>QUÉ MOSTRAR</a:t>
            </a:r>
            <a:r>
              <a:rPr sz="1050" b="0">
                <a:solidFill>
                  <a:srgbClr val="4A4A4A"/>
                </a:solidFill>
                <a:latin typeface="Lato"/>
              </a:rPr>
              <a:t>    Cómo llegan los datos al proyecto (API, descarga, scraping, base de datos) y si otra persona puede repetir el proceso.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016000" cy="2794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1E3A"/>
                </a:solidFill>
                <a:latin typeface="Montserrat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8128000" cy="508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B2B2B"/>
                </a:solidFill>
                <a:latin typeface="Montserrat"/>
              </a:rPr>
              <a:t>Diccionario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800" y="1041400"/>
            <a:ext cx="558800" cy="381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51400"/>
            <a:ext cx="508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Wine Quality · Equipo: Estudiante_1, Estudiante_2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6800" y="4851400"/>
            <a:ext cx="127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04 / 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8800" y="1244600"/>
          <a:ext cx="807720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05000"/>
                <a:gridCol w="3505200"/>
                <a:gridCol w="1524000"/>
                <a:gridCol w="114300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ato"/>
                        </a:rPr>
                        <a:t>Variable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ato"/>
                        </a:rPr>
                        <a:t>Significado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ato"/>
                        </a:rPr>
                        <a:t>Tipo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ato"/>
                        </a:rPr>
                        <a:t>Rango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7B1E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Roboto Mono"/>
                        </a:rPr>
                        <a:t>fixed_acidity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Acidez fija (g/L de ácido tartárico)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numérica continua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3,8 a 15,9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Roboto Mono"/>
                        </a:rPr>
                        <a:t>volatile_acidity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Acidez volátil (g/L de ácido acético)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numérica continua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0,08 a 1,58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Roboto Mono"/>
                        </a:rPr>
                        <a:t>residual_sugar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Azúcar residual (g/L)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numérica continua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0,6 a 65,8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Roboto Mono"/>
                        </a:rPr>
                        <a:t>chlorides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Cloruros (g/L de cloruro de sodio)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numérica continua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0,009 a 0,611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Roboto Mono"/>
                        </a:rPr>
                        <a:t>total_sulfur_dioxide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Dióxido de azufre total (mg/L)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numérica continua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6 a 440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Roboto Mono"/>
                        </a:rPr>
                        <a:t>density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Densidad (g/cm³)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numérica continua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0,987 a 1,039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Roboto Mono"/>
                        </a:rPr>
                        <a:t>alcohol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Graduación alcohólica (% vol.)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numérica continua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Lato"/>
                        </a:rPr>
                        <a:t>8,0 a 14,9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B1E3A"/>
                          </a:solidFill>
                          <a:latin typeface="Roboto Mono"/>
                        </a:rPr>
                        <a:t>quality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B1E3A"/>
                          </a:solidFill>
                          <a:latin typeface="Lato"/>
                        </a:rPr>
                        <a:t>Puntaje de los catadores (objetivo)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B1E3A"/>
                          </a:solidFill>
                          <a:latin typeface="Lato"/>
                        </a:rPr>
                        <a:t>discreta ordinal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B1E3A"/>
                          </a:solidFill>
                          <a:latin typeface="Lato"/>
                        </a:rPr>
                        <a:t>3 a 9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58800" y="4241800"/>
            <a:ext cx="8077200" cy="508000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B1E3A"/>
                </a:solidFill>
                <a:latin typeface="Lato"/>
              </a:rPr>
              <a:t>QUÉ MOSTRAR</a:t>
            </a:r>
            <a:r>
              <a:rPr sz="1050" b="0">
                <a:solidFill>
                  <a:srgbClr val="4A4A4A"/>
                </a:solidFill>
                <a:latin typeface="Lato"/>
              </a:rPr>
              <a:t>    Cada variable con significado, unidad, tipo y rango. Si son muchas, las principales acá y la tabla completa en la notebook.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016000" cy="2794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1E3A"/>
                </a:solidFill>
                <a:latin typeface="Montserrat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8128000" cy="508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B2B2B"/>
                </a:solidFill>
                <a:latin typeface="Montserrat"/>
              </a:rPr>
              <a:t>Calidad de los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800" y="1041400"/>
            <a:ext cx="558800" cy="381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51400"/>
            <a:ext cx="508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Wine Quality · Equipo: Estudiante_1, Estudiante_2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6800" y="4851400"/>
            <a:ext cx="127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05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4191000" cy="28448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Faltantes:</a:t>
            </a:r>
            <a:r>
              <a:rPr sz="1200" b="0">
                <a:solidFill>
                  <a:srgbClr val="3A3A3A"/>
                </a:solidFill>
                <a:latin typeface="Lato"/>
              </a:rPr>
              <a:t> no hay valores nulos.</a:t>
            </a:r>
          </a:p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Duplicados:</a:t>
            </a:r>
            <a:r>
              <a:rPr sz="1200" b="0">
                <a:solidFill>
                  <a:srgbClr val="3A3A3A"/>
                </a:solidFill>
                <a:latin typeface="Lato"/>
              </a:rPr>
              <a:t> 1.179 filas repetidas (18%).</a:t>
            </a:r>
          </a:p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Outliers:</a:t>
            </a:r>
            <a:r>
              <a:rPr sz="1200" b="0">
                <a:solidFill>
                  <a:srgbClr val="3A3A3A"/>
                </a:solidFill>
                <a:latin typeface="Lato"/>
              </a:rPr>
              <a:t> en azúcar residual y cloruros.</a:t>
            </a:r>
          </a:p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Desbalance:</a:t>
            </a:r>
            <a:r>
              <a:rPr sz="1200" b="0">
                <a:solidFill>
                  <a:srgbClr val="3A3A3A"/>
                </a:solidFill>
                <a:latin typeface="Lato"/>
              </a:rPr>
              <a:t> solo el 4% de los vinos es de calidad baja.</a:t>
            </a:r>
          </a:p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Inconsistencia:</a:t>
            </a:r>
            <a:r>
              <a:rPr sz="1200" b="0">
                <a:solidFill>
                  <a:srgbClr val="3A3A3A"/>
                </a:solidFill>
                <a:latin typeface="Lato"/>
              </a:rPr>
              <a:t> mezcla tintos y blancos, pero no trae la columna color.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3810000"/>
            <a:ext cx="3835400" cy="330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A9A"/>
                </a:solidFill>
                <a:latin typeface="Lato"/>
              </a:rPr>
              <a:t>Distribución de quality_label: low ≤ 4, medium 5 y 6, high ≥ 7.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8800" y="4241800"/>
            <a:ext cx="8077200" cy="508000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B1E3A"/>
                </a:solidFill>
                <a:latin typeface="Lato"/>
              </a:rPr>
              <a:t>QUÉ MOSTRAR</a:t>
            </a:r>
            <a:r>
              <a:rPr sz="1050" b="0">
                <a:solidFill>
                  <a:srgbClr val="4A4A4A"/>
                </a:solidFill>
                <a:latin typeface="Lato"/>
              </a:rPr>
              <a:t>    Faltantes, duplicados, outliers e inconsistencias, siempre con números. Cada problema tiene que llevar a una decisión.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016000" cy="2794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1E3A"/>
                </a:solidFill>
                <a:latin typeface="Montserrat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8128000" cy="508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B2B2B"/>
                </a:solidFill>
                <a:latin typeface="Montserrat"/>
              </a:rPr>
              <a:t>Limpieza y transformación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800" y="1041400"/>
            <a:ext cx="558800" cy="381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51400"/>
            <a:ext cx="508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Wine Quality · Equipo: Estudiante_1, Estudiante_2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6800" y="4851400"/>
            <a:ext cx="127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06 / 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8800" y="1270000"/>
          <a:ext cx="8077200" cy="2717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62200"/>
                <a:gridCol w="3175000"/>
                <a:gridCol w="2540000"/>
              </a:tblGrid>
              <a:tr h="330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Lato"/>
                        </a:rPr>
                        <a:t>Problema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Lato"/>
                        </a:rPr>
                        <a:t>Decisión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Lato"/>
                        </a:rPr>
                        <a:t>Por qué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7B1E3A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B2B"/>
                          </a:solidFill>
                          <a:latin typeface="Lato"/>
                        </a:rPr>
                        <a:t>La calidad es un puntaje de 3 a 9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Lato"/>
                        </a:rPr>
                        <a:t>Crear quality_label: low (≤ 4), medium (5 y 6), high (≥ 7)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Lato"/>
                        </a:rPr>
                        <a:t>Plantear el problema como clasificación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B2B"/>
                          </a:solidFill>
                          <a:latin typeface="Lato"/>
                        </a:rPr>
                        <a:t>Variables en escalas muy distintas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Lato"/>
                        </a:rPr>
                        <a:t>Normalizar con MinMaxScaler al rango 0 a 1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Lato"/>
                        </a:rPr>
                        <a:t>Que ninguna variable domine por su magnitud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B2B"/>
                          </a:solidFill>
                          <a:latin typeface="Lato"/>
                        </a:rPr>
                        <a:t>Valores atípicos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Lato"/>
                        </a:rPr>
                        <a:t>Se conservan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Lato"/>
                        </a:rPr>
                        <a:t>Son químicamente posibles, no errores de carga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B2B2B"/>
                          </a:solidFill>
                          <a:latin typeface="Lato"/>
                        </a:rPr>
                        <a:t>Duplicados y falta de color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Lato"/>
                        </a:rPr>
                        <a:t>Quedan pendientes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Lato"/>
                        </a:rPr>
                        <a:t>Requieren volver a la fuente original</a:t>
                      </a:r>
                    </a:p>
                  </a:txBody>
                  <a:tcPr anchor="ctr" marL="76200" marR="76200" marT="38100" marB="38100">
                    <a:lnL w="9525">
                      <a:solidFill>
                        <a:srgbClr val="E4DACD"/>
                      </a:solidFill>
                    </a:lnL>
                    <a:lnR w="9525">
                      <a:solidFill>
                        <a:srgbClr val="E4DACD"/>
                      </a:solidFill>
                    </a:lnR>
                    <a:lnT w="9525">
                      <a:solidFill>
                        <a:srgbClr val="E4DACD"/>
                      </a:solidFill>
                    </a:lnT>
                    <a:lnB w="9525">
                      <a:solidFill>
                        <a:srgbClr val="E4DAC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58800" y="4241800"/>
            <a:ext cx="8077200" cy="508000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B1E3A"/>
                </a:solidFill>
                <a:latin typeface="Lato"/>
              </a:rPr>
              <a:t>QUÉ MOSTRAR</a:t>
            </a:r>
            <a:r>
              <a:rPr sz="1050" b="0">
                <a:solidFill>
                  <a:srgbClr val="4A4A4A"/>
                </a:solidFill>
                <a:latin typeface="Lato"/>
              </a:rPr>
              <a:t>    Qué se hizo, con qué técnica y por qué. Si se puede, mostrar el antes y el después.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016000" cy="2794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1E3A"/>
                </a:solidFill>
                <a:latin typeface="Montserrat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8128000" cy="508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B2B2B"/>
                </a:solidFill>
                <a:latin typeface="Montserrat"/>
              </a:rPr>
              <a:t>Hallazgos del análisis exploratorio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800" y="1041400"/>
            <a:ext cx="558800" cy="381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51400"/>
            <a:ext cx="508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Wine Quality · Equipo: Estudiante_1, Estudiante_2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6800" y="4851400"/>
            <a:ext cx="127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07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4191000" cy="28448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Alcohol:</a:t>
            </a:r>
            <a:r>
              <a:rPr sz="1200" b="0">
                <a:solidFill>
                  <a:srgbClr val="3A3A3A"/>
                </a:solidFill>
                <a:latin typeface="Lato"/>
              </a:rPr>
              <a:t> es la variable más asociada a la calidad (r = 0,44).</a:t>
            </a:r>
          </a:p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Acidez volátil y densidad:</a:t>
            </a:r>
            <a:r>
              <a:rPr sz="1200" b="0">
                <a:solidFill>
                  <a:srgbClr val="3A3A3A"/>
                </a:solidFill>
                <a:latin typeface="Lato"/>
              </a:rPr>
              <a:t> relación negativa con la calidad (r ≈ −0,3).</a:t>
            </a:r>
          </a:p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Asimetrías:</a:t>
            </a:r>
            <a:r>
              <a:rPr sz="1200" b="0">
                <a:solidFill>
                  <a:srgbClr val="3A3A3A"/>
                </a:solidFill>
                <a:latin typeface="Lato"/>
              </a:rPr>
              <a:t> azúcar residual y cloruros, con colas largas.</a:t>
            </a:r>
          </a:p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Redundancia:</a:t>
            </a:r>
            <a:r>
              <a:rPr sz="1200" b="0">
                <a:solidFill>
                  <a:srgbClr val="3A3A3A"/>
                </a:solidFill>
                <a:latin typeface="Lato"/>
              </a:rPr>
              <a:t> densidad se relaciona con alcohol y azúcar.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3810000"/>
            <a:ext cx="3835400" cy="330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A9A"/>
                </a:solidFill>
                <a:latin typeface="Lato"/>
              </a:rPr>
              <a:t>A mayor calidad, mayor graduación alcohólica.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8800" y="4241800"/>
            <a:ext cx="8077200" cy="508000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B1E3A"/>
                </a:solidFill>
                <a:latin typeface="Lato"/>
              </a:rPr>
              <a:t>QUÉ MOSTRAR</a:t>
            </a:r>
            <a:r>
              <a:rPr sz="1050" b="0">
                <a:solidFill>
                  <a:srgbClr val="4A4A4A"/>
                </a:solidFill>
                <a:latin typeface="Lato"/>
              </a:rPr>
              <a:t>    Dos o tres gráficos que respondan una pregunta, cada uno con su conclusión. Nada decorativo.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016000" cy="2794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1E3A"/>
                </a:solidFill>
                <a:latin typeface="Montserrat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8128000" cy="508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B2B2B"/>
                </a:solidFill>
                <a:latin typeface="Montserrat"/>
              </a:rPr>
              <a:t>Persistencia y versionado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800" y="1041400"/>
            <a:ext cx="558800" cy="381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51400"/>
            <a:ext cx="508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Wine Quality · Equipo: Estudiante_1, Estudiante_2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6800" y="4851400"/>
            <a:ext cx="127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08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800" y="1295400"/>
            <a:ext cx="3759200" cy="2819400"/>
          </a:xfrm>
          <a:prstGeom prst="rect">
            <a:avLst/>
          </a:prstGeom>
          <a:solidFill>
            <a:srgbClr val="2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wine-quality/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├─ data/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│  ├─ raw/         originales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│  └─ processed/   limpios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├─ notebooks/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│  └─ 02_eda.ipynb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├─ src/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│  └─ ingesta.py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├─ requirements.txt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├─ .gitignore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EDE6"/>
                </a:solidFill>
                <a:latin typeface="Roboto Mono"/>
              </a:rPr>
              <a:t>└─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200" y="1270000"/>
            <a:ext cx="4165600" cy="28448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Crudos intactos:</a:t>
            </a:r>
            <a:r>
              <a:rPr sz="1200" b="0">
                <a:solidFill>
                  <a:srgbClr val="3A3A3A"/>
                </a:solidFill>
                <a:latin typeface="Lato"/>
              </a:rPr>
              <a:t> data/raw no se modifica; todo cambio queda en código.</a:t>
            </a:r>
          </a:p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Reproducible:</a:t>
            </a:r>
            <a:r>
              <a:rPr sz="1200" b="0">
                <a:solidFill>
                  <a:srgbClr val="3A3A3A"/>
                </a:solidFill>
                <a:latin typeface="Lato"/>
              </a:rPr>
              <a:t> los datos procesados se regeneran corriendo la notebook o el script.</a:t>
            </a:r>
          </a:p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Archivos grandes:</a:t>
            </a:r>
            <a:r>
              <a:rPr sz="1200" b="0">
                <a:solidFill>
                  <a:srgbClr val="3A3A3A"/>
                </a:solidFill>
                <a:latin typeface="Lato"/>
              </a:rPr>
              <a:t> GitHub rechaza archivos de más de 100 MB; usar script de descarga, Git LFS o Drive.</a:t>
            </a:r>
          </a:p>
          <a:p>
            <a:pPr algn="just" marL="203200" indent="-15240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>
                <a:srgbClr val="7B1E3A"/>
              </a:buClr>
              <a:buFont typeface="Arial"/>
              <a:buChar char="•"/>
            </a:pPr>
            <a:r>
              <a:rPr sz="1200" b="1">
                <a:solidFill>
                  <a:srgbClr val="2B2B2B"/>
                </a:solidFill>
                <a:latin typeface="Lato"/>
              </a:rPr>
              <a:t>Commits frecuentes:</a:t>
            </a:r>
            <a:r>
              <a:rPr sz="1200" b="0">
                <a:solidFill>
                  <a:srgbClr val="3A3A3A"/>
                </a:solidFill>
                <a:latin typeface="Lato"/>
              </a:rPr>
              <a:t> con mensajes claros, como «Elimina duplicados».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8800" y="4241800"/>
            <a:ext cx="8077200" cy="508000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B1E3A"/>
                </a:solidFill>
                <a:latin typeface="Lato"/>
              </a:rPr>
              <a:t>QUÉ MOSTRAR</a:t>
            </a:r>
            <a:r>
              <a:rPr sz="1050" b="0">
                <a:solidFill>
                  <a:srgbClr val="4A4A4A"/>
                </a:solidFill>
                <a:latin typeface="Lato"/>
              </a:rPr>
              <a:t>    Dónde quedan los datos crudos y los procesados, cómo se versiona el código y qué pasa con los archivos grandes.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016000" cy="2794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B1E3A"/>
                </a:solidFill>
                <a:latin typeface="Montserrat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8128000" cy="508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B2B2B"/>
                </a:solidFill>
                <a:latin typeface="Montserrat"/>
              </a:rPr>
              <a:t>Conclusiones y próximos pasos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800" y="1041400"/>
            <a:ext cx="558800" cy="381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51400"/>
            <a:ext cx="508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Wine Quality · Equipo: Estudiante_1, Estudiante_2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6800" y="4851400"/>
            <a:ext cx="127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09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800" y="1320800"/>
            <a:ext cx="2540000" cy="271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8800" y="1320800"/>
            <a:ext cx="2540000" cy="508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1473200"/>
            <a:ext cx="2387600" cy="254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E3A"/>
                </a:solidFill>
                <a:latin typeface="Montserrat"/>
              </a:rPr>
              <a:t>DECISIONES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778000"/>
            <a:ext cx="2387600" cy="2159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A3A"/>
                </a:solidFill>
                <a:latin typeface="Lato"/>
              </a:rPr>
              <a:t>Se definió quality_label y se normalizaron las variables. Los outliers se conservan.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20800"/>
            <a:ext cx="2540000" cy="271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6600" y="1320800"/>
            <a:ext cx="2540000" cy="508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2800" y="1473200"/>
            <a:ext cx="2387600" cy="254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E3A"/>
                </a:solidFill>
                <a:latin typeface="Montserrat"/>
              </a:rPr>
              <a:t>DIFICULTADES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800" y="1778000"/>
            <a:ext cx="2387600" cy="2159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A3A"/>
                </a:solidFill>
                <a:latin typeface="Lato"/>
              </a:rPr>
              <a:t>El desbalance de clases y la falta de la variable color, que mezcla dos tipos de vino.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94400" y="1320800"/>
            <a:ext cx="2540000" cy="271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94400" y="1320800"/>
            <a:ext cx="2540000" cy="508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0600" y="1473200"/>
            <a:ext cx="2387600" cy="254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E3A"/>
                </a:solidFill>
                <a:latin typeface="Montserrat"/>
              </a:rPr>
              <a:t>PRÓXIMOS PASOS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0600" y="1778000"/>
            <a:ext cx="2387600" cy="2159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3A3A"/>
                </a:solidFill>
                <a:latin typeface="Lato"/>
              </a:rPr>
              <a:t>Eliminar duplicados, recuperar el color, entrenar los primeros clasificadores y exponer el modelo con FastAPI.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8800" y="4241800"/>
            <a:ext cx="8077200" cy="508000"/>
          </a:xfrm>
          <a:prstGeom prst="rect">
            <a:avLst/>
          </a:prstGeom>
          <a:solidFill>
            <a:srgbClr val="EF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B1E3A"/>
                </a:solidFill>
                <a:latin typeface="Lato"/>
              </a:rPr>
              <a:t>QUÉ MOSTRAR</a:t>
            </a:r>
            <a:r>
              <a:rPr sz="1050" b="0">
                <a:solidFill>
                  <a:srgbClr val="4A4A4A"/>
                </a:solidFill>
                <a:latin typeface="Lato"/>
              </a:rPr>
              <a:t>    Qué aprendieron de los datos, qué costó y cómo sigue el proyecto.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82600"/>
            <a:ext cx="8128000" cy="508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B2B2B"/>
                </a:solidFill>
                <a:latin typeface="Montserrat"/>
              </a:rPr>
              <a:t>Referencias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58800" y="1041400"/>
            <a:ext cx="558800" cy="38100"/>
          </a:xfrm>
          <a:prstGeom prst="rect">
            <a:avLst/>
          </a:prstGeom>
          <a:solidFill>
            <a:srgbClr val="7B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0800"/>
            <a:ext cx="8178800" cy="2540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A3A3A"/>
                </a:solidFill>
                <a:latin typeface="Lato"/>
              </a:rPr>
              <a:t>Cortez, P., Cerdeira, A., Almeida, F., Matos, T. y Reis, J. (2009). Modeling wine preferences by data mining from physicochemical properties. Decision Support Systems, 47(4), 547–553.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A3A3A"/>
                </a:solidFill>
                <a:latin typeface="Lato"/>
              </a:rPr>
              <a:t>Cortez, P. et al. (2009). Wine Quality [dataset]. UCI Machine Learning Repository. https://doi.org/10.24432/C56S3T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3A3A3A"/>
                </a:solidFill>
                <a:latin typeface="Lato"/>
              </a:rPr>
              <a:t>Repositorio del proyecto: github.com/equipo/wine-quality (completar).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51400"/>
            <a:ext cx="5080000" cy="2032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Lato"/>
              </a:rPr>
              <a:t>Wine Quality · Equipo: Estudiante_1, Estudiante_2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16000" y="2540000"/>
            <a:ext cx="3810000" cy="3810000"/>
          </a:xfrm>
          <a:prstGeom prst="ellipse">
            <a:avLst/>
          </a:prstGeom>
          <a:solidFill>
            <a:srgbClr val="8A2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78000"/>
            <a:ext cx="9144000" cy="762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ontserrat"/>
              </a:rPr>
              <a:t>¡Gracias!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40000"/>
            <a:ext cx="9144000" cy="381000"/>
          </a:xfrm>
          <a:prstGeom prst="rect">
            <a:avLst/>
          </a:prstGeom>
          <a:noFill/>
        </p:spPr>
        <p:txBody>
          <a:bodyPr wrap="square" anchor="t" lIns="101600" rIns="101600" tIns="63500" bIns="635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9C9D3"/>
                </a:solidFill>
                <a:latin typeface="Lato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